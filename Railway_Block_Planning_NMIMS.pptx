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75" r:id="rId24"/>
    <p:sldId id="276" r:id="rId25"/>
    <p:sldId id="269" r:id="rId15"/>
    <p:sldId id="270" r:id="rId16"/>
    <p:sldId id="271" r:id="rId17"/>
    <p:sldId id="272" r:id="rId18"/>
    <p:sldId id="273" r:id="rId19"/>
    <p:sldId id="274" r:id="rId20"/>
  </p:sldIdLst>
  <p:sldSz cx="10341610" cy="7515860"/>
  <p:notesSz cx="7515860" cy="1034161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83080"/>
            <a:ext cx="9418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Project Presentation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A.Y. 2026-2027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74720"/>
            <a:ext cx="9418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Indian Railways AI-Powered Automatic Block Planning System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34695" y="3520440"/>
            <a:ext cx="9052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6334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Multi-Department Decision-Support &amp; Dynamic Conflict Resolution Prototype for Maintenance Possessions on the Prayagraj Jn - Kanpur Central Corridor, North Central Railway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48920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Presented by :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1463040" y="5257800"/>
          <a:ext cx="7406640" cy="1042416"/>
        </p:xfrm>
        <a:graphic>
          <a:graphicData uri="http://schemas.openxmlformats.org/drawingml/2006/table">
            <a:tbl>
              <a:tblPr/>
              <a:tblGrid>
                <a:gridCol w="2834640"/>
                <a:gridCol w="2651760"/>
                <a:gridCol w="19202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Name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SAP ID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Roll No.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Dishank Shah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70322200027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C181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Aatman Satra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70322200110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C157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1463040" y="6583680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 the guidance of : Prof. Jasleena Gonsalves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Abstract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31720"/>
            <a:ext cx="9418320" cy="15544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Maintenance demands from Civil (TMS), Traction/OHE (TDMS) and S&amp;T (SMMS) are submitted independently, causing repeated, fragmented line shutdowns and punctuality losses.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Decision-support prototype for the 191 km Prayagraj Jn (PRYJ) - Kanpur Central (CNB) trunk corridor, NCR: 16 block sections (8 UP Main + 8 DOWN Main).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Result: 13 multi-department demands co-scheduled into only 6 consolidated blocks, eliminating 7 redundant shutdowns.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93192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MCDA Prioritization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89120"/>
            <a:ext cx="28346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Explainable 6-factor urgency score (0.0 - 100.0) with plain-English rationale.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11880" y="393192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703320" y="3977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CP-SAT Optimizer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03320" y="4389120"/>
            <a:ext cx="292608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OR-Tools CP-SAT bundles demands into Mega Blocks in the 01:00-05:00 AM night lull, penalizing passenger path disruption.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393192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949440" y="39776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IR-Copilot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4389120"/>
            <a:ext cx="2834640" cy="10972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20-document rulebook RAG (IRPWM, ACTM, SEM, G&amp;SR) with Google Gemini fallback (gemini-3.5-flash-lite).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623560"/>
            <a:ext cx="9418320" cy="14630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Frontend: 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18, TypeScript, Tailwind CSS - 24-hour Gantt matrix, live schematic with TSLW, "Apply NOW vs In Future" workflow, Form T/409 generator (CSV/PDF).</a:t>
            </a:r>
            <a:endParaRPr lang="en-US" sz="11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Backend: 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FastAPI (Python 3.12), Pydantic v2.</a:t>
            </a:r>
            <a:endParaRPr lang="en-US" sz="11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Keywords: 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Block Planning, CP-SAT, MCDA, Possession Bundling, RAG, Gemini AI, Human-in-the-Loop, Prayagraj Division.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Introduction: Background &amp; Problem Statement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4206240" cy="4663440"/>
          </a:xfrm>
          <a:prstGeom prst="roundRect">
            <a:avLst>
              <a:gd name="adj" fmla="val 1739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1.1 Background &amp; Context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4023360" cy="4160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Indian Railways: 4th-largest network; 68,000+ route-km; 13,000+ passenger and 8,000+ freight trains daily.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 120% line-capacity utilization on Golden Quadrilateral trunks.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Prayagraj Division (NCR): 191 km double-track, 130 km/h electrified PRYJ-CNB corridor (Rajdhani, Vande Bharat, Prayagraj Express + bulk freight).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Possessions needed for USFD weld repair, ballast tamping, 25kV OHE overhaul, EI point machine tests.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2331720"/>
            <a:ext cx="5074920" cy="4663440"/>
          </a:xfrm>
          <a:prstGeom prst="roundRect">
            <a:avLst>
              <a:gd name="adj" fmla="val 1569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237744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1.2 Problem Statement &amp; Challenges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2788920"/>
            <a:ext cx="4892040" cy="4160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Departmental silos: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TMS, TDMS, SMMS each apply via BDMS independently.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Repeated closures: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15 km section shut 3 times a week.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Subjective prioritization: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algorithm to compare rail flaw vs OHE hotspot vs relay drift.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Premium path disruption: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Vande Bharat / Rajdhani pushed into loops, cascading delays.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Administrative overhead: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 T/409, S&amp;T T/351 and pilot authorities drafted manually.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Aim, Objectives, Scope &amp; Users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31720"/>
            <a:ext cx="4937760" cy="46634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Aim: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AI-assisted decision-support prototype automating intake, scoring, constraint-based bundling, scheduling and sanctioning of multi-department blocks.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Unified ingestion: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normalized schema for Civil, Electrical, Signalling demands.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MCDA: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transparent 5-factor, 0-100 score with rationales.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CP-SAT: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assign tasks to feasible windows; maximize bundling, minimize disruption.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Bidirectional model: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 Main (PRYJ-CNB) and DOWN Main (CNB-PRYJ), 16 sections.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Copilot: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offline 20-doc RAG + Gemini fallback.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HITL: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Sanction for Scheduled Slot vs Apply Block NOW.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telemetry: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tracking, loop regulation, TSLW (G&amp;SR 15.09).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 T/409 caution orders with CSV/PDF export.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32120" y="2331720"/>
            <a:ext cx="4343400" cy="2331720"/>
          </a:xfrm>
          <a:prstGeom prst="roundRect">
            <a:avLst>
              <a:gd name="adj" fmla="val 3137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23560" y="237744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1.4 Scope &amp; Boundaries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2788920"/>
            <a:ext cx="4160520" cy="1828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191 km, 8 sections x UP/DOWN = 16 blocks; P.Way, TRD (25kV OHE), S&amp;T.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24-hour tactical planning, 3-day rolling advance window.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Offline prototype: no writes to CRIS COA / BDMS; final authority rests with the Section Controller.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32120" y="4754880"/>
            <a:ext cx="4343400" cy="2240280"/>
          </a:xfrm>
          <a:prstGeom prst="roundRect">
            <a:avLst>
              <a:gd name="adj" fmla="val 3265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23560" y="480060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1.5 User Personas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5212080"/>
            <a:ext cx="4160520" cy="173736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Chief Section / Block Controller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Sr. Section Engineers: P.Way, TRD/OHE, S&amp;T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Divisional Operations Manager (DOM / Sr. DOM) - corridor KPIs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Survey &amp; Research Contribution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2.1 Constraint Programming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2834640" cy="17830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Possession scheduling is NP-hard (job-shop with setup times) [2],[3]. MILP scales poorly; CP-SAT uses lazy clause generation + CDCL to solve in seconds.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11880" y="233172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03320" y="23774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2.2 Possession Bundling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2788920"/>
            <a:ext cx="2926080" cy="17830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Budai [6], Liden [5]: bundled possessions improve capacity; shadow blocks inside a CSM tamping closure amortize diversion cost.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233172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23774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2.3 MCDA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788920"/>
            <a:ext cx="2834640" cy="17830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Black-box ML faces regulatory resistance; weighted linear MCDA [7] is fully auditable.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70916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754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2.4 RAG &amp; LLMs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66360"/>
            <a:ext cx="2834640" cy="17830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LLMs hallucinate on IRPWM / G&amp;SR; RAG [9] grounds answers in verified text. Gemini handles open-ended queries.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11880" y="470916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03320" y="4754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2.5 Human-in-the-Loop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703320" y="5166360"/>
            <a:ext cx="2926080" cy="17830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Parasuraman [10], Shneiderman [11]: high decision support, human execution authority. Controller approves, rejects, modifies or advances any block.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0" y="470916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4754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2.6 Our Contribution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5166360"/>
            <a:ext cx="2834640" cy="17830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Synthesis of MCDA scoring + CP-SAT + hybrid RAG/Gemini + UP/DOWN modeling + interactive control dashboard (NOW vs scheduled).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Design &amp; Architecture</a:t>
            </a:r>
            <a:endParaRPr lang="en-US" sz="2400" dirty="0"/>
          </a:p>
        </p:txBody>
      </p:sp>
      <p:pic>
        <p:nvPicPr>
          <p:cNvPr id="5" name="Image 1" descr="/tmp/media/media/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4480560" cy="441655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20640" y="2377440"/>
            <a:ext cx="4754880" cy="45720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18, TypeScript, Vite 5, Tailwind CSS, Lucide icons (SPA).</a:t>
            </a:r>
            <a:endParaRPr lang="en-US" sz="13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&amp; Orchestration: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FastAPI + Uvicorn, Python 3.12, async REST.</a:t>
            </a:r>
            <a:endParaRPr lang="en-US" sz="13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Analytics &amp; Optimization: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TaskPrioritizer (MCDA), BlockPlanningOptimizer (CP-SAT), RailwayRulebookRAG, DelayPropagationModel.</a:t>
            </a:r>
            <a:endParaRPr lang="en-US" sz="13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External AI: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Gemini (gemini-3.5-flash-lite) via google-genai SDK, httpx fallback.</a:t>
            </a:r>
            <a:endParaRPr lang="en-US" sz="13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seeded synthetic JSON, thread-safe in-memory cache with disk sync.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Corridor Model &amp; Data Contracts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2331720"/>
          <a:ext cx="9418320" cy="2468880"/>
        </p:xfrm>
        <a:graphic>
          <a:graphicData uri="http://schemas.openxmlformats.org/drawingml/2006/table">
            <a:tbl>
              <a:tblPr/>
              <a:tblGrid>
                <a:gridCol w="365760"/>
                <a:gridCol w="2834640"/>
                <a:gridCol w="1737360"/>
                <a:gridCol w="1371600"/>
                <a:gridCol w="1097280"/>
                <a:gridCol w="822960"/>
                <a:gridCol w="118872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#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Station Pair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 / DOWN ID suffix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Length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Speed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Density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Prayagraj Jn - Subedarganj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PRG_SFG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827.0-831.5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4.5 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115 GMT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Subedarganj - Manauri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SFG_MRE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831.5-845.2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13.7 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125 GMT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Manauri - Bharwari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MRE_BRE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845.2-865.8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20.6 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130 GMT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Bharwari - Sirathu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BRE_SRO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865.8-888.4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22.6 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128 GMT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Sirathu - Khaga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SRO_KGA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888.4-914.6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26.2 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120 GMT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Khaga - Fatehpur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KGA_FTP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914.6-945.0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30.4 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135 GMT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Fatehpur - Bindki Road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FTP_BKO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945.0-977.3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32.3 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132 GMT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Bindki Road - Kanpur Central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BKO_CNB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977.3-1018.0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40.7 km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140 GMT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937760"/>
            <a:ext cx="9418320" cy="20116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Enums: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(ENGINEERING, TRD, ST); Severity (EMERGENCY, CRITICAL, ROUTINE); BlockStatus (PROPOSED, APPROVED, REJECTED, MODIFIED).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 (Pydantic v2):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Section; UnifiedMaintenanceTask (MCDA factors, duration, priority); ScheduledBlock (bundled tasks, yield, authority); PlanAnalytics (availability, bundling ratio, punctuality).</a:t>
            </a:r>
            <a:endParaRPr lang="en-US" sz="12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CorridorBlockWindow: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NIGHT_LULL 01:30-04:30, MIDDAY_GOODS_GAP 11:30-13:45, AFTERNOON_GAP 15:00-17:00.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Methodology: MCDA Scoring Engine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31720"/>
            <a:ext cx="9418320" cy="457200"/>
          </a:xfrm>
          <a:prstGeom prst="rect">
            <a:avLst/>
          </a:prstGeom>
          <a:solidFill>
            <a:srgbClr val="F3F3F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450" b="1">
                <a:solidFill>
                  <a:srgbClr val="000000"/>
                </a:solidFill>
                <a:latin typeface="Courier New"/>
              </a:rPr>
              <a:t>S(t) = min( 100, F_severity + F_overdue + F_density + F_statutory + F_speed + F_mega )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760720"/>
            <a:ext cx="9418320" cy="128016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Cumulative Block Yield: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Yield(b) = sum of S(t) for tasks in block b - safety value resolved per possession, incentivizing bundling.</a:t>
            </a:r>
            <a:endParaRPr lang="en-US" sz="13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Validation: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task score stays within 0-100; block yields above 100 are shown as "Combined Yield: X pts (N tasks)".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2926080"/>
            <a:ext cx="1472184" cy="26974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2999232"/>
            <a:ext cx="13624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Severity (0-40)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3364992"/>
            <a:ext cx="13624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40: Emergency (rail fracture, OHE snap)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25: Critical (SEJ gap, point defect)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10: Routine (tamping, screening)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43684" y="2926080"/>
            <a:ext cx="1472184" cy="26974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8548" y="2999232"/>
            <a:ext cx="13624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Overdue (0-20)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98548" y="3364992"/>
            <a:ext cx="13624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Formula: min(20, days_overdue x 5)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Linear escalation: +5 pts / day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Capped at max 20 pts after 4 days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0168" y="2926080"/>
            <a:ext cx="1472184" cy="26974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2999232"/>
            <a:ext cx="13624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Density (0-15)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3364992"/>
            <a:ext cx="13624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Formula: min(15, GMT / 150 x 15)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Heavy freight &amp; express trunk factor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Calibrated for PRYJ-CNB high GMT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6652" y="2926080"/>
            <a:ext cx="1472184" cy="26974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1516" y="2999232"/>
            <a:ext cx="13624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Statutory (0/15)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71516" y="3364992"/>
            <a:ext cx="13624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15: Mandatory compliance inspection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0: Discretionary maintenance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Prevents regulatory violation backlog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03136" y="2926080"/>
            <a:ext cx="1472184" cy="26974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999232"/>
            <a:ext cx="13624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Speed (0/10)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364992"/>
            <a:ext cx="13624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10: Active caution order on block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0: Normal sectional speed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Restores 130/160 km/h corridor speed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89620" y="2926080"/>
            <a:ext cx="1472184" cy="26974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4484" y="2999232"/>
            <a:ext cx="13624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Mega Block (0/25)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4484" y="3364992"/>
            <a:ext cx="13624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25: Tagged for Joint Mega Block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0: Unbundled single-dept task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E1E1E"/>
                </a:solidFill>
                <a:latin typeface="Arial"/>
              </a:rPr>
              <a:t>• Directly boosts multi-dept bundling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Methodology: CP-SAT Constraint Optimizer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Decision Variables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2834640" cy="4160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x(t,w) = 1 if task t assigned to window w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y(w) = 1 if window w is used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b(w) = 1 if w is a bundled block (&gt;= 2 departments)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dept_in_win(w,d) = 1 if department d has a task in w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11880" y="2331720"/>
            <a:ext cx="3108960" cy="4663440"/>
          </a:xfrm>
          <a:prstGeom prst="roundRect">
            <a:avLst>
              <a:gd name="adj" fmla="val 2353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03320" y="23774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2788920"/>
            <a:ext cx="2926080" cy="4160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Feasibility: same section and duration(w) &gt;= duration(t)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task at most once: sum_w x(t,w) &lt;= 1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Window linkage: y(w) &lt;= sum_t x(t,w); x(t,w) &lt;= y(w)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Bundling: 2*b(w) &lt;= sum_d dept_in_win(w,d)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Same-department tasks must fit in window duration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0" y="233172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23774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Objective (maximize)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788920"/>
            <a:ext cx="2834640" cy="4160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 W(t,w)*x(t,w) + sum( 10*beta*b(w) - lambda*impact(w)*y(w) 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 = 10*S(t) - 120*day_offset + E_emergency + V_speed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beta = 40 (bundling reward)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lambda = 150 (disruption penalty)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E_emergency = 1500*(3 - day_offset) forces Day 0 for emergencies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IR-Copilot: Hybrid RAG + Google Gemini</a:t>
            </a:r>
            <a:endParaRPr lang="en-US" sz="2400" dirty="0"/>
          </a:p>
        </p:txBody>
      </p:sp>
      <p:pic>
        <p:nvPicPr>
          <p:cNvPr id="5" name="Image 1" descr="/tmp/media/media/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4572000" cy="3995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212080" y="2697480"/>
            <a:ext cx="4663440" cy="42976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IRPWM_605: thermit/flash butt weld cooling 30-45 min, 30 km/h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IRPWM_812: tamping protocols, adjacent-line speed limits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IRPWM_610: emergency fish-plating, broken rails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ACTM_207: 25kV OHE isolation, Power Block, earthing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ACTM_502: neutral section PTFE insulator overhaul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SEM_124: S&amp;T disconnection T-351 / reconnection T-352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SEM_304: point machine 5 mm obstruction test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GSR_1506: Traffic Block authority, Caution Order T/409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GSR_1509: TSLW pilot authority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GSR_418: detonators 1200 m, banner flag 600 m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IR_MEGABLOCK_POLICY: night-lull consolidation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212080" y="23317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20-document knowledge base (selected)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4652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Offline RAG first; Gemini fallback for open-ended queries.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Delay Model, Controller Approval &amp; Live Schematic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5.4 Delay Propagation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2834640" cy="4160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1050" b="1">
                <a:solidFill>
                  <a:srgbClr val="1E1E1E"/>
                </a:solidFill>
                <a:latin typeface="Arial"/>
              </a:rPr>
              <a:t>Saved Closures = </a:t>
            </a:r>
            <a:r>
              <a:rPr sz="1050" b="0">
                <a:solidFill>
                  <a:srgbClr val="1E1E1E"/>
                </a:solidFill>
                <a:latin typeface="Arial"/>
              </a:rPr>
              <a:t>Σ (|tasks(b)| - 1) = 7 closures</a:t>
            </a:r>
            <a:endParaRPr lang="en-US" sz="1100" dirty="0"/>
          </a:p>
          <a:p>
            <a:r>
              <a:rPr sz="1050" b="1">
                <a:solidFill>
                  <a:srgbClr val="1E1E1E"/>
                </a:solidFill>
                <a:latin typeface="Arial"/>
              </a:rPr>
              <a:t>Saved Minutes = </a:t>
            </a:r>
            <a:r>
              <a:rPr sz="1050" b="0">
                <a:solidFill>
                  <a:srgbClr val="1E1E1E"/>
                </a:solidFill>
                <a:latin typeface="Arial"/>
              </a:rPr>
              <a:t>7 closures x 95 min = 665 min</a:t>
            </a:r>
          </a:p>
          <a:p>
            <a:r>
              <a:rPr sz="1050" b="1">
                <a:solidFill>
                  <a:srgbClr val="1E1E1E"/>
                </a:solidFill>
                <a:latin typeface="Arial"/>
              </a:rPr>
              <a:t>Pax Delay Saved = </a:t>
            </a:r>
            <a:r>
              <a:rPr sz="1050" b="0">
                <a:solidFill>
                  <a:srgbClr val="1E1E1E"/>
                </a:solidFill>
                <a:latin typeface="Arial"/>
              </a:rPr>
              <a:t>665 min x 1.8 = 1,197 min</a:t>
            </a:r>
          </a:p>
          <a:p>
            <a:r>
              <a:rPr sz="1050" b="1">
                <a:solidFill>
                  <a:srgbClr val="1E1E1E"/>
                </a:solidFill>
                <a:latin typeface="Arial"/>
              </a:rPr>
              <a:t>Trains Protected = </a:t>
            </a:r>
            <a:r>
              <a:rPr sz="1050" b="0">
                <a:solidFill>
                  <a:srgbClr val="1E1E1E"/>
                </a:solidFill>
                <a:latin typeface="Arial"/>
              </a:rPr>
              <a:t>round(7 x 2.14) = 15 express rakes</a:t>
            </a:r>
          </a:p>
          <a:p>
            <a:r>
              <a:rPr sz="1050" b="1">
                <a:solidFill>
                  <a:srgbClr val="1E1E1E"/>
                </a:solidFill>
                <a:latin typeface="Arial"/>
              </a:rPr>
              <a:t>Freight Demurrage = </a:t>
            </a:r>
            <a:r>
              <a:rPr sz="1050" b="0">
                <a:solidFill>
                  <a:srgbClr val="1E1E1E"/>
                </a:solidFill>
                <a:latin typeface="Arial"/>
              </a:rPr>
              <a:t>7 x 2.4 x ₹1,800 x 1.75 = ₹1,13,400</a:t>
            </a:r>
          </a:p>
          <a:p>
            <a:r>
              <a:rPr sz="1050" b="1">
                <a:solidFill>
                  <a:srgbClr val="1E1E1E"/>
                </a:solidFill>
                <a:latin typeface="Arial"/>
              </a:rPr>
              <a:t>Punctuality Recovery = </a:t>
            </a:r>
            <a:r>
              <a:rPr sz="1050" b="0">
                <a:solidFill>
                  <a:srgbClr val="1E1E1E"/>
                </a:solidFill>
                <a:latin typeface="Arial"/>
              </a:rPr>
              <a:t>min(99.4%, 84.5% + 1.8*N + 0.015*min) = 98.5%</a:t>
            </a:r>
          </a:p>
        </p:txBody>
      </p:sp>
      <p:sp>
        <p:nvSpPr>
          <p:cNvPr id="8" name="Shape 5"/>
          <p:cNvSpPr/>
          <p:nvPr/>
        </p:nvSpPr>
        <p:spPr>
          <a:xfrm>
            <a:off x="3611880" y="2331720"/>
            <a:ext cx="3108960" cy="4663440"/>
          </a:xfrm>
          <a:prstGeom prst="roundRect">
            <a:avLst>
              <a:gd name="adj" fmla="val 2353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03320" y="23774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5.5 HITL: NOW vs FUTURE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2788920"/>
            <a:ext cx="2926080" cy="4160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A. Future slot [AI recommended]: 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e.g. tonight 01:30-04:30 IST; daytime expresses unaffected.</a:t>
            </a:r>
            <a:endParaRPr lang="en-US" sz="11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B. Apply NOW: 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start = current clock time; signals locked RED; trains regulated.</a:t>
            </a:r>
            <a:endParaRPr lang="en-US" sz="1100" dirty="0"/>
          </a:p>
          <a:p>
            <a:pPr marL="0" indent="0"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C. Custom slot: </a:t>
            </a: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controller sets date and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2331720"/>
            <a:ext cx="3017520" cy="4663440"/>
          </a:xfrm>
          <a:prstGeom prst="roundRect">
            <a:avLst>
              <a:gd name="adj" fmla="val 2424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23774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5.6 Live Schematic &amp; TSLW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788920"/>
            <a:ext cx="2834640" cy="4160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12301 Howrah Rajdhani: UP, 130 km/h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12417 Prayagraj Express: UP, 110 km/h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BOXN-804 freight: regulated to loop siding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22436 Vande Bharat: DOWN, 130 km/h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TSLW (G&amp;SR 15.09): pilot over adjacent line at 30 km/h under Caution Order T/409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 &amp; Verification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Env: Windows 10/11 x64, i5/Ryzen 5 (4C/8T), 4 GB RAM (4-8 GB paging), Python 3.12.2, Node 20, Vite 5.4.21, OR-Tools 9.9.3963 CP-SAT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2788920"/>
          <a:ext cx="9418320" cy="4023360"/>
        </p:xfrm>
        <a:graphic>
          <a:graphicData uri="http://schemas.openxmlformats.org/drawingml/2006/table">
            <a:tbl>
              <a:tblPr/>
              <a:tblGrid>
                <a:gridCol w="731520"/>
                <a:gridCol w="3749040"/>
                <a:gridCol w="4023360"/>
                <a:gridCol w="914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Scenario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Observed Output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Status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TC-01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System initialization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16 sections (8 UP + 8 DN), 13 tasks loaded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TC-02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MCDA calculation (ENG_001 weld fracture)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Score 67.5/100 with rationale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TC-03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CP-SAT bundling (POST /api/plan/generate)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 tasks in 6 blocks; 0 unassigned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TC-04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Bidirectional distribution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 blocks UP Main, 2 DOWN Main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Approval state isolation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Only targeted block APPROVED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TC-06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Immediate execution (NOW)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Block times set to current IST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TC-07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RAG: thermit weld Para 605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IRPWM_605: 45 min buffer, 30 km/h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TC-08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Gemini fallback: Kavach TCAS braking curve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Routed to Gemini; authoritative answer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TC-09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Caution order (GET /api/copilot/memo/{id})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Form T/409 with checklists and limits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TC-10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Past-date advance block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HTTP 400 with current IST timestamp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Results: 13 Demands into 6 Bundled Blocks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57200" y="2286000"/>
          <a:ext cx="941832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3108960"/>
                <a:gridCol w="2286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Block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Direction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Tasks Bundled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Departments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Yield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312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SFG-MRE (UP)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ENG_001, TRD_001, SNT_001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Eng + TRD + S&amp;T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182.5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SRO-KGA (DN)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DOWN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TRD_003, ENG_003, SNT_003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Eng + TRD + S&amp;T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161.0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MRE-BRE (UP)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ENG_002, TRD_002, SNT_002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Eng + TRD + S&amp;T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129.0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BKO-CNB (DN)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DOWN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SNT_004, ENG_005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Eng + S&amp;T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108.0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KGA-FTP (UP)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TRD_004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23.5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FTP-BKO (UP)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ENG_004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Engineering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23.2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389120"/>
            <a:ext cx="3200400" cy="1828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Tasks demanded / scheduled: 13 / 13 (100%); backlog 0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duplicate shutdowns eliminated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Bundling ratio 66.7% (4 of 6 blocks)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Asset availability 98.5%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Idle window reduction 71.7%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657600" y="4389120"/>
            <a:ext cx="3291840" cy="1828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Passenger delay saved: 1,197 min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Freight demurrage avoided: Rs 1,13,400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  <a:defRPr sz="1100">
                <a:latin typeface="Arial"/>
              </a:defRPr>
            </a:pPr>
            <a:r>
              <a:t>Punctuality preservation: 98.5%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 scores 23.2 (ENG_004) to 69.0 (SNT_004)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Solver: 0.18-0.42 s, optimal (limit 10 s)</a:t>
            </a:r>
            <a:endParaRPr lang="en-US" sz="1200" dirty="0"/>
          </a:p>
        </p:txBody>
      </p:sp>
      <p:pic>
        <p:nvPicPr>
          <p:cNvPr id="8" name="Image 1" descr="/tmp/media/media/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4343400"/>
            <a:ext cx="2834640" cy="13350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040880" y="571500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Pie: resolution of 13 demands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Advantages, Limitations, Safety &amp; Risks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461772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7.1 Advantages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4434840" cy="1874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Single unified multi-department possession timetable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Night-lull shift protects Vande Bharat / Rajdhani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Auditable MCDA rationales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NOW or Future execution flexibility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Codified IRPWM, ACTM, SEM, G&amp;SR grounding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57800" y="2331720"/>
            <a:ext cx="461772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49240" y="237744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7.2 Limitations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2788920"/>
            <a:ext cx="4434840" cy="18745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Simulated telemetry (no NTES / RTIS feeds)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Section-level model: no crossovers, turnouts, IBH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run-in/out and crew rest approximated (no CMS)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8463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7.3 Safety-Critical Considerations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257800"/>
            <a:ext cx="2834640" cy="16916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Level 3/4 decision support: recommends and drafts only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Section Controller / Station Master authenticates every permit and movement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11880" y="4800600"/>
            <a:ext cx="6263640" cy="2194560"/>
          </a:xfrm>
          <a:prstGeom prst="roundRect">
            <a:avLst>
              <a:gd name="adj" fmla="val 3333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03320" y="4846320"/>
            <a:ext cx="6080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7.4 Risk Management Matrix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5257800"/>
            <a:ext cx="6080760" cy="16916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Peak-hour block: lambda = 150 + night-lull bonus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Thermit cooling: mandatory 45 min buffer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GB OOM: 4-8 GB paging buffer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Past-date block: backend rejects before IST now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hallucination: RAG threshold &gt;= 35, verbatim clauses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4617720" cy="3108960"/>
          </a:xfrm>
          <a:prstGeom prst="roundRect">
            <a:avLst>
              <a:gd name="adj" fmla="val 2353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8.1 Summary of Accomplishments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4434840" cy="26060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Integrates AI, constraint programming and knowledge retrieval for 191 km PRYJ-CNB, 16 bidirectional sections.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demands resolved in 6 blocks: 66.7% bundling, 98.5% availability, 1,100+ passenger delay minutes saved.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Explainable, human-centred interface.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57800" y="2331720"/>
            <a:ext cx="4617720" cy="3108960"/>
          </a:xfrm>
          <a:prstGeom prst="roundRect">
            <a:avLst>
              <a:gd name="adj" fmla="val 2353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49240" y="237744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8.2 Future Roadmap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2788920"/>
            <a:ext cx="4434840" cy="26060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Direct CRIS integration: COA 2.0, TMS, BDMS APIs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Kavach / TCAS interoperability with 30 km/h braking profiles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Track temperature sensors for IRPWM Para 904 hot-weather patrolling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Migrate to encrypted PostgreSQL / TimescaleDB with RBAC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5532120"/>
            <a:ext cx="9418320" cy="14630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5577840"/>
            <a:ext cx="9235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8.3 Concluding Remarks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89320"/>
            <a:ext cx="9235440" cy="9601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Bridges academic operations research and control-office reality; a scalable foundation for intelligent corridor maintenance under the vision of Viksit Bharat 2047.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737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31720"/>
            <a:ext cx="4663440" cy="46634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[1] Ministry of Railways, Indian Railways Year Book &amp; Operating Statistics, 2024.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[2] Rossi, van Beek, Walsh, Handbook of Constraint Programming, Elsevier, 2006.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[3] Google OR-Tools Team, CP-SAT Solver, Google Developers, 2024.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[4] D'Ariano, Pacciarelli, Pranzo, Branch and bound for train scheduling, EJOR 183(2), 2007.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[5] J. Liden, Railway infrastructure maintenance survey, Transp. Res. Procedia 10, 2015.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[6] Budai, Huisman, Dekker, Scheduling preventive railway maintenance, JORS 57(9), 2006.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[7] Belton, Stewart, Multiple Criteria Decision Analysis, Kluwer, 2002.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[8] Lewis et al., Retrieval-augmented generation, NeurIPS 33, 2020.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2331720"/>
            <a:ext cx="4663440" cy="46634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[9] Parasuraman, Sheridan, Wickens, Types and levels of human interaction with automation, IEEE SMC-A 30(3), 2000.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[10] Shneiderman, Human-centered AI, Int. J. HCI 36(6), 2020.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[11] Railway Board, IRPWM, 2020.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[12] Railway Board, G&amp;SR with Amendments, NCR Prayagraj, 2022.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[13] Railway Board, ACTM, Vol. II.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[14] Railway Board, Signal Engineering Manual (SEM), Parts I &amp; II.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[15] FastAPI Framework, fastapi.tiangolo.com, 2024.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[16] React Documentation, Meta Open Source, react.dev, 2024.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Engineering Department, MPSTME, Mumbai Campus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377440"/>
            <a:ext cx="9418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7472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31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89120"/>
            <a:ext cx="9418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B7312C"/>
                </a:solidFill>
                <a:latin typeface="Arial"/>
              </a:rPr>
              <a:t>Dishank Shah (C181)   |   Aatman Satra (C157)</a:t>
            </a:r>
            <a:endParaRPr lang="en-US" sz="1600" dirty="0"/>
          </a:p>
          <a:p>
            <a:pPr algn="ctr"/>
            <a:r>
              <a:rPr sz="1400" b="1">
                <a:solidFill>
                  <a:srgbClr val="1E1E1E"/>
                </a:solidFill>
                <a:latin typeface="Arial"/>
              </a:rPr>
              <a:t>Under the guidance of Prof. Jasleena Gonsalves</a:t>
            </a:r>
          </a:p>
          <a:p>
            <a:pPr algn="ctr"/>
            <a:r>
              <a:rPr sz="1200" b="0">
                <a:solidFill>
                  <a:srgbClr val="6E6E6E"/>
                </a:solidFill>
                <a:latin typeface="Arial"/>
              </a:rPr>
              <a:t>Department of Computer Engineering, MPSTME, SVKM's NMIMS, Mumbai</a:t>
            </a:r>
          </a:p>
          <a:p>
            <a:pPr algn="ctr"/>
          </a:p>
          <a:p>
            <a:pPr algn="ctr"/>
            <a:r>
              <a:rPr sz="1150" b="1">
                <a:solidFill>
                  <a:srgbClr val="1E1E1E"/>
                </a:solidFill>
                <a:latin typeface="Arial"/>
              </a:rPr>
              <a:t>GitHub Repository: https://github.com/aatman0212/IndianRailways-AI-Block-Planner</a:t>
            </a:r>
          </a:p>
          <a:p>
            <a:pPr algn="ctr"/>
            <a:r>
              <a:rPr sz="1150" b="0">
                <a:solidFill>
                  <a:srgbClr val="B7312C"/>
                </a:solidFill>
                <a:latin typeface="Arial"/>
              </a:rPr>
              <a:t>Live Interactive Demo: http://localhost:5173   |   REST API: http://localhost:8000/docs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7150608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719072"/>
            <a:ext cx="94183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Arial"/>
              </a:rPr>
              <a:t>System Prototype: Interactive Corridor Gantt &amp; Permit Sanction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2848"/>
            <a:ext cx="941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i="1">
                <a:solidFill>
                  <a:srgbClr val="6E6E6E"/>
                </a:solidFill>
                <a:latin typeface="Arial"/>
              </a:rPr>
              <a:t>Live React 18 / TypeScript Dashboard implementing Multi-Department Bundling and Human-in-the-Loop Sanction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Computer Engineering Department, MPSTME, Mumbai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2032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24-Hour Corridor Schedule &amp; Conflict Matrix (TMS / TDMS / SMMS)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594360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27648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1E1E1E"/>
                </a:solidFill>
                <a:latin typeface="Arial"/>
              </a:rPr>
              <a:t>• 16 Bidirectional Block Sections: 191 km PRYJ-CNB trunk corridor.
• Night-Lull Optimization: OR-Tools CP-SAT bundles civil, OHE, and S&amp;T tasks into 01:00-05:00 AM lull.
• Zero Backlog: All 13 maintenance demands scheduled; 7 duplicate shutdowns eliminated.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4203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Human-in-the-Loop Permit Sanction Review</a:t>
            </a:r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880360"/>
            <a:ext cx="329184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617220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1E1E1E"/>
                </a:solidFill>
                <a:latin typeface="Arial"/>
              </a:rPr>
              <a:t>• AI Decision-Support: Recommends night slot (01:30-04:30 IST) to avert passenger train disruption.
• Apply NOW vs Future: Controller emergency override with signal interlocking &amp; OTP verification.
• Interlocking Integrity: Enforces red signal aspects and locks point levers prior to track possession.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41864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719072"/>
            <a:ext cx="94183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Arial"/>
              </a:rPr>
              <a:t>System Prototype: Digital Twin Track Schematic &amp; Form T/409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2848"/>
            <a:ext cx="941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i="1">
                <a:solidFill>
                  <a:srgbClr val="6E6E6E"/>
                </a:solidFill>
                <a:latin typeface="Arial"/>
              </a:rPr>
              <a:t>Real-Time Track Interlocking, Dynamic Train Pilotage, and Statutory Railway Compliance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150608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08080"/>
                </a:solidFill>
                <a:latin typeface="Arial"/>
              </a:rPr>
              <a:t>Computer Engineering Department, MPSTME, Mumbai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2032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Live Corridor Track Schematic &amp; TSLW Simulator (G&amp;SR 15.09)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621792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99632"/>
            <a:ext cx="62179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1E1E1E"/>
                </a:solidFill>
                <a:latin typeface="Arial"/>
              </a:rPr>
              <a:t>• Live Digital Twin: Real-time telemetry tracking 12301 Rajdhani (130 km/h), 22436 Vande Bharat, and BOXN-804 freight.
• Temporary Single Line Working (TSLW): Opposite-direction pilotage over UP track under G&amp;SR 15.09 at 30 km/h.
• Dynamic Interlocking: Section red-aspect locking, loop siding regulation, and caution boards active.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54203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7312C"/>
                </a:solidFill>
                <a:latin typeface="Arial"/>
              </a:rPr>
              <a:t>Form T/409 Caution Order Bulletin</a:t>
            </a:r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880360"/>
            <a:ext cx="301752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5303520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1E1E1E"/>
                </a:solidFill>
                <a:latin typeface="Arial"/>
              </a:rPr>
              <a:t>• Statutory Operating Compliance: Automated caution bulletin conforming to Indian Railways General &amp; Subsidiary Rules.
• Strict Speed Restriction: 30 km/h over tamping &amp; weld cooling zone (km 842/10 - 845/20).
• Multicast Dispatch: Automatically issued to Station Masters, Section Controller, Loco Pilot, and Guard.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14116</Words>
  <Application>WPS Presentation</Application>
  <PresentationFormat>On-screen Show (16:9)</PresentationFormat>
  <Paragraphs>675</Paragraphs>
  <Slides>17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Arial</vt:lpstr>
      <vt:lpstr>Arial</vt:lpstr>
      <vt:lpstr>Arial</vt:lpstr>
      <vt:lpstr>Courier New</vt:lpstr>
      <vt:lpstr>Courier New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šĄťŘã,âÀTMäÑ !</cp:lastModifiedBy>
  <cp:revision>2</cp:revision>
  <dcterms:created xsi:type="dcterms:W3CDTF">2026-10-26T15:47:00Z</dcterms:created>
  <dcterms:modified xsi:type="dcterms:W3CDTF">2026-10-26T17:16:15Z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111A71937ED24239A366C1E0EC98E3BB_12</vt:lpwstr>
  </property>
  <property fmtid="{D5CDD505-2E9C-101B-9397-08002B2CF9AE}" pid="3" name="KSOProductBuildVer">
    <vt:lpwstr>1033-12.1.0.29162</vt:lpwstr>
  </property>
</Properties>
</file>